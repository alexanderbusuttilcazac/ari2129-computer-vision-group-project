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ormorant Garamond Bold" panose="020B0604020202020204" charset="0"/>
      <p:regular r:id="rId17"/>
    </p:embeddedFont>
    <p:embeddedFont>
      <p:font typeface="Cormorant Garamond Bold Italics" panose="020B0604020202020204" charset="0"/>
      <p:regular r:id="rId18"/>
    </p:embeddedFont>
    <p:embeddedFont>
      <p:font typeface="Cormorant Garamond Italics" panose="020B0604020202020204" charset="0"/>
      <p:regular r:id="rId19"/>
    </p:embeddedFont>
    <p:embeddedFont>
      <p:font typeface="Quicksand 1" panose="020B0604020202020204" charset="0"/>
      <p:regular r:id="rId20"/>
    </p:embeddedFont>
    <p:embeddedFont>
      <p:font typeface="Quicksand 1 Bold" panose="020B0604020202020204" charset="0"/>
      <p:regular r:id="rId21"/>
    </p:embeddedFont>
    <p:embeddedFont>
      <p:font typeface="Quicksand 2" panose="020B0604020202020204" charset="0"/>
      <p:regular r:id="rId22"/>
    </p:embeddedFont>
    <p:embeddedFont>
      <p:font typeface="Quicksand 2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75817" autoAdjust="0"/>
  </p:normalViewPr>
  <p:slideViewPr>
    <p:cSldViewPr>
      <p:cViewPr varScale="1">
        <p:scale>
          <a:sx n="42" d="100"/>
          <a:sy n="42" d="100"/>
        </p:scale>
        <p:origin x="1426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35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mention analogy:</a:t>
            </a:r>
          </a:p>
          <a:p>
            <a:r>
              <a:rPr lang="en-US"/>
              <a:t>0→10 vs 90→100 volume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Encode (γ=0.45) </a:t>
            </a:r>
          </a:p>
          <a:p>
            <a:r>
              <a:rPr lang="en-US" dirty="0"/>
              <a:t>Decode (γ=2.2)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to mention while explaining: </a:t>
            </a:r>
          </a:p>
          <a:p>
            <a:endParaRPr lang="en-US" dirty="0"/>
          </a:p>
          <a:p>
            <a:r>
              <a:rPr lang="en-US" dirty="0"/>
              <a:t>s = output pixel value</a:t>
            </a:r>
          </a:p>
          <a:p>
            <a:r>
              <a:rPr lang="en-US" dirty="0"/>
              <a:t>r = input pixel value (</a:t>
            </a:r>
            <a:r>
              <a:rPr lang="en-US" dirty="0" err="1"/>
              <a:t>normalised</a:t>
            </a:r>
            <a:r>
              <a:rPr lang="en-US" dirty="0"/>
              <a:t> between 0 and 1)</a:t>
            </a:r>
          </a:p>
          <a:p>
            <a:r>
              <a:rPr lang="en-US" dirty="0"/>
              <a:t>C = a positive scaling constant, typically set to 1 for standard use</a:t>
            </a:r>
          </a:p>
          <a:p>
            <a:r>
              <a:rPr lang="en-US" dirty="0"/>
              <a:t>ɣ = the exponent that controls the shape of the transformation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γ &lt; 1: Brightens → stretches shadows, compresses highlights. Curve bows upwards. Applied during encoding (camera → file)</a:t>
            </a:r>
          </a:p>
          <a:p>
            <a:endParaRPr lang="en-US" dirty="0"/>
          </a:p>
          <a:p>
            <a:r>
              <a:rPr lang="en-US" dirty="0"/>
              <a:t>γ &gt; 1: Darkens → compress shadows, stretches highlights. Curve bows downwards. Applied during decoding (file → display)</a:t>
            </a:r>
          </a:p>
          <a:p>
            <a:endParaRPr lang="en-US" dirty="0"/>
          </a:p>
          <a:p>
            <a:r>
              <a:rPr lang="en-US" dirty="0"/>
              <a:t>γ = 1: Identity → no change. Reduces to s = C · r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Clipping — bright areas forced to pure white → highlight detail lost</a:t>
            </a:r>
          </a:p>
          <a:p>
            <a:r>
              <a:rPr lang="en-US" dirty="0"/>
              <a:t>Crushing — dark areas forced to solid black → shadow detail lost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Mid-pipeline rendering → apply at final output only, never during lighting/colour calculations or it corrupts the math </a:t>
            </a:r>
          </a:p>
          <a:p>
            <a:r>
              <a:rPr lang="en-GB" dirty="0"/>
              <a:t>Already gamma encoded image (non-RAW) → re-encoding double-corrects → washed out result</a:t>
            </a:r>
          </a:p>
          <a:p>
            <a:endParaRPr lang="en-GB" dirty="0"/>
          </a:p>
          <a:p>
            <a:r>
              <a:rPr lang="en-GB" dirty="0"/>
              <a:t>Already LDR content → no HDR to compress → unnecessarily degrades image</a:t>
            </a:r>
          </a:p>
          <a:p>
            <a:r>
              <a:rPr lang="en-GB" dirty="0"/>
              <a:t>Native HDR display → preserve HDR data as-is → display handles it natively</a:t>
            </a:r>
          </a:p>
          <a:p>
            <a:endParaRPr lang="en-GB" dirty="0"/>
          </a:p>
          <a:p>
            <a:r>
              <a:rPr lang="en-GB" dirty="0"/>
              <a:t>PQ (Perceptual Quantizer) → HDR-specific transfer function → models actual human vision research → used in HDR10 &amp; Dolby Vision</a:t>
            </a:r>
          </a:p>
          <a:p>
            <a:r>
              <a:rPr lang="en-GB" dirty="0"/>
              <a:t>Linear workflow → </a:t>
            </a:r>
            <a:r>
              <a:rPr lang="en-GB" dirty="0" err="1"/>
              <a:t>OpenColourIO</a:t>
            </a:r>
            <a:r>
              <a:rPr lang="en-GB" dirty="0"/>
              <a:t> → stay in linear light throughout → single calibrated display transform at the very end</a:t>
            </a:r>
          </a:p>
          <a:p>
            <a:endParaRPr lang="en-GB" dirty="0"/>
          </a:p>
          <a:p>
            <a:r>
              <a:rPr lang="en-GB" dirty="0"/>
              <a:t>Exposure Fusion → multiple LDR shots at different exposures → blend best-exposed regions directly → no HDR file ever created </a:t>
            </a:r>
          </a:p>
          <a:p>
            <a:r>
              <a:rPr lang="en-GB" dirty="0"/>
              <a:t>Local Adaptation → spatially aware → each pixel mapped based on surrounding neighbourhood → preserves local contrast better than global curve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17102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3764" y="2649792"/>
            <a:ext cx="16229942" cy="3479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Gamma Correction &amp; </a:t>
            </a:r>
          </a:p>
          <a:p>
            <a:pPr marL="0" lvl="0" indent="0" algn="ctr">
              <a:lnSpc>
                <a:spcPts val="13999"/>
              </a:lnSpc>
              <a:spcBef>
                <a:spcPct val="0"/>
              </a:spcBef>
            </a:pPr>
            <a:r>
              <a:rPr lang="en-US" sz="99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Tone Mapping</a:t>
            </a:r>
          </a:p>
        </p:txBody>
      </p:sp>
      <p:sp>
        <p:nvSpPr>
          <p:cNvPr id="3" name="AutoShape 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4" name="AutoShape 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5" name="Freeform 5"/>
          <p:cNvSpPr/>
          <p:nvPr/>
        </p:nvSpPr>
        <p:spPr>
          <a:xfrm>
            <a:off x="9618706" y="90374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6" name="TextBox 6"/>
          <p:cNvSpPr txBox="1"/>
          <p:nvPr/>
        </p:nvSpPr>
        <p:spPr>
          <a:xfrm>
            <a:off x="3322179" y="7032069"/>
            <a:ext cx="11643643" cy="108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7"/>
              </a:lnSpc>
              <a:spcBef>
                <a:spcPct val="0"/>
              </a:spcBef>
            </a:pPr>
            <a:r>
              <a:rPr lang="en-US" sz="3141" dirty="0">
                <a:solidFill>
                  <a:srgbClr val="0F4662"/>
                </a:solidFill>
                <a:latin typeface="Quicksand 1"/>
                <a:ea typeface="Quicksand 1"/>
                <a:cs typeface="Quicksand 1"/>
                <a:sym typeface="Quicksand 1"/>
              </a:rPr>
              <a:t>Alexander Busuttil Cazac, Nicholai Camilleri, Sarah </a:t>
            </a:r>
            <a:r>
              <a:rPr lang="en-US" sz="3141" dirty="0" err="1">
                <a:solidFill>
                  <a:srgbClr val="0F4662"/>
                </a:solidFill>
                <a:latin typeface="Quicksand 1"/>
                <a:ea typeface="Quicksand 1"/>
                <a:cs typeface="Quicksand 1"/>
                <a:sym typeface="Quicksand 1"/>
              </a:rPr>
              <a:t>Demanuele</a:t>
            </a:r>
            <a:r>
              <a:rPr lang="en-US" sz="3141" dirty="0">
                <a:solidFill>
                  <a:srgbClr val="0F4662"/>
                </a:solidFill>
                <a:latin typeface="Quicksand 1"/>
                <a:ea typeface="Quicksand 1"/>
                <a:cs typeface="Quicksand 1"/>
                <a:sym typeface="Quicksand 1"/>
              </a:rPr>
              <a:t>, Zack Haber &amp; Reuben Mifsud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22179" y="1967581"/>
            <a:ext cx="11643643" cy="529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7"/>
              </a:lnSpc>
              <a:spcBef>
                <a:spcPct val="0"/>
              </a:spcBef>
            </a:pPr>
            <a:r>
              <a:rPr lang="en-US" sz="3141">
                <a:solidFill>
                  <a:srgbClr val="0F4662"/>
                </a:solidFill>
                <a:latin typeface="Quicksand 1"/>
                <a:ea typeface="Quicksand 1"/>
                <a:cs typeface="Quicksand 1"/>
                <a:sym typeface="Quicksand 1"/>
              </a:rPr>
              <a:t>ARI2129 - Principles of CV</a:t>
            </a:r>
          </a:p>
        </p:txBody>
      </p:sp>
      <p:sp>
        <p:nvSpPr>
          <p:cNvPr id="8" name="Freeform 8"/>
          <p:cNvSpPr/>
          <p:nvPr/>
        </p:nvSpPr>
        <p:spPr>
          <a:xfrm>
            <a:off x="5646742" y="8078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10699" y="2015133"/>
            <a:ext cx="8022194" cy="150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22"/>
              </a:lnSpc>
            </a:pPr>
            <a:r>
              <a:rPr lang="en-US" sz="5640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Introduction to </a:t>
            </a:r>
          </a:p>
          <a:p>
            <a:pPr marL="0" lvl="0" indent="0" algn="l">
              <a:lnSpc>
                <a:spcPts val="5922"/>
              </a:lnSpc>
            </a:pPr>
            <a:r>
              <a:rPr lang="en-US" sz="5640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Gamma Correction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10699" y="4700241"/>
            <a:ext cx="13866603" cy="148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F4662"/>
                </a:solidFill>
                <a:latin typeface="Quicksand 2"/>
                <a:ea typeface="Quicksand 2"/>
                <a:cs typeface="Quicksand 2"/>
                <a:sym typeface="Quicksand 2"/>
              </a:rPr>
              <a:t>CRT Displays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0F4662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F4662"/>
                </a:solidFill>
                <a:latin typeface="Quicksand 2"/>
                <a:ea typeface="Quicksand 2"/>
                <a:cs typeface="Quicksand 2"/>
                <a:sym typeface="Quicksand 2"/>
              </a:rPr>
              <a:t>Near-Logarithmic Perception of Light</a:t>
            </a:r>
          </a:p>
        </p:txBody>
      </p:sp>
      <p:sp>
        <p:nvSpPr>
          <p:cNvPr id="4" name="AutoShape 4"/>
          <p:cNvSpPr/>
          <p:nvPr/>
        </p:nvSpPr>
        <p:spPr>
          <a:xfrm>
            <a:off x="2210699" y="4069111"/>
            <a:ext cx="13844095" cy="0"/>
          </a:xfrm>
          <a:prstGeom prst="line">
            <a:avLst/>
          </a:prstGeom>
          <a:ln w="38100" cap="flat">
            <a:solidFill>
              <a:srgbClr val="A9BEC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Five Dots Icon"/>
          <p:cNvSpPr/>
          <p:nvPr/>
        </p:nvSpPr>
        <p:spPr>
          <a:xfrm>
            <a:off x="8304001" y="2017050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 descr="Five Dots Icon"/>
          <p:cNvSpPr/>
          <p:nvPr/>
        </p:nvSpPr>
        <p:spPr>
          <a:xfrm>
            <a:off x="8304001" y="8019527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TextBox 4"/>
          <p:cNvSpPr txBox="1"/>
          <p:nvPr/>
        </p:nvSpPr>
        <p:spPr>
          <a:xfrm>
            <a:off x="4054468" y="3667125"/>
            <a:ext cx="10179064" cy="2943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32"/>
              </a:lnSpc>
            </a:pPr>
            <a:r>
              <a:rPr lang="en-US" sz="4860" b="1">
                <a:solidFill>
                  <a:srgbClr val="0F4662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“If cameras store light linearly, but our eyes perceive it logarithmically, how do we store an image that actually looks natural to a human?”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14450" y="1314450"/>
            <a:ext cx="13844814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</a:pPr>
            <a:r>
              <a:rPr lang="en-US" sz="7500" b="1" i="1" strike="noStrik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The Solution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50003" y="5741436"/>
            <a:ext cx="2071533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49"/>
              </a:lnSpc>
              <a:spcBef>
                <a:spcPct val="0"/>
              </a:spcBef>
            </a:pPr>
            <a:r>
              <a:rPr lang="en-US" sz="3099">
                <a:solidFill>
                  <a:srgbClr val="0F4662"/>
                </a:solidFill>
                <a:latin typeface="Quicksand 1"/>
                <a:ea typeface="Quicksand 1"/>
                <a:cs typeface="Quicksand 1"/>
                <a:sym typeface="Quicksand 1"/>
              </a:rPr>
              <a:t>Camera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687557" y="5741436"/>
            <a:ext cx="2071533" cy="113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49"/>
              </a:lnSpc>
              <a:spcBef>
                <a:spcPct val="0"/>
              </a:spcBef>
            </a:pPr>
            <a:r>
              <a:rPr lang="en-US" sz="3099">
                <a:solidFill>
                  <a:srgbClr val="0F4662"/>
                </a:solidFill>
                <a:latin typeface="Quicksand 1"/>
                <a:ea typeface="Quicksand 1"/>
                <a:cs typeface="Quicksand 1"/>
                <a:sym typeface="Quicksand 1"/>
              </a:rPr>
              <a:t>Linear</a:t>
            </a:r>
          </a:p>
          <a:p>
            <a:pPr marL="0" lvl="0" indent="0" algn="ctr">
              <a:lnSpc>
                <a:spcPts val="4649"/>
              </a:lnSpc>
              <a:spcBef>
                <a:spcPct val="0"/>
              </a:spcBef>
            </a:pPr>
            <a:r>
              <a:rPr lang="en-US" sz="3099">
                <a:solidFill>
                  <a:srgbClr val="0F4662"/>
                </a:solidFill>
                <a:latin typeface="Quicksand 1"/>
                <a:ea typeface="Quicksand 1"/>
                <a:cs typeface="Quicksand 1"/>
                <a:sym typeface="Quicksand 1"/>
              </a:rPr>
              <a:t>Light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5110" y="5741436"/>
            <a:ext cx="2071533" cy="113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49"/>
              </a:lnSpc>
              <a:spcBef>
                <a:spcPct val="0"/>
              </a:spcBef>
            </a:pPr>
            <a:r>
              <a:rPr lang="en-US" sz="3099">
                <a:solidFill>
                  <a:srgbClr val="0F4662"/>
                </a:solidFill>
                <a:latin typeface="Quicksand 1"/>
                <a:ea typeface="Quicksand 1"/>
                <a:cs typeface="Quicksand 1"/>
                <a:sym typeface="Quicksand 1"/>
              </a:rPr>
              <a:t>Gamma Encoding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62663" y="5741436"/>
            <a:ext cx="2071533" cy="113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49"/>
              </a:lnSpc>
              <a:spcBef>
                <a:spcPct val="0"/>
              </a:spcBef>
            </a:pPr>
            <a:r>
              <a:rPr lang="en-US" sz="3099">
                <a:solidFill>
                  <a:srgbClr val="0F4662"/>
                </a:solidFill>
                <a:latin typeface="Quicksand 1"/>
                <a:ea typeface="Quicksand 1"/>
                <a:cs typeface="Quicksand 1"/>
                <a:sym typeface="Quicksand 1"/>
              </a:rPr>
              <a:t>Storage/</a:t>
            </a:r>
          </a:p>
          <a:p>
            <a:pPr marL="0" lvl="0" indent="0" algn="ctr">
              <a:lnSpc>
                <a:spcPts val="4649"/>
              </a:lnSpc>
              <a:spcBef>
                <a:spcPct val="0"/>
              </a:spcBef>
            </a:pPr>
            <a:r>
              <a:rPr lang="en-US" sz="3099">
                <a:solidFill>
                  <a:srgbClr val="0F4662"/>
                </a:solidFill>
                <a:latin typeface="Quicksand 1"/>
                <a:ea typeface="Quicksand 1"/>
                <a:cs typeface="Quicksand 1"/>
                <a:sym typeface="Quicksand 1"/>
              </a:rPr>
              <a:t>Display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800217" y="5741436"/>
            <a:ext cx="2071533" cy="113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49"/>
              </a:lnSpc>
              <a:spcBef>
                <a:spcPct val="0"/>
              </a:spcBef>
            </a:pPr>
            <a:r>
              <a:rPr lang="en-US" sz="3099">
                <a:solidFill>
                  <a:srgbClr val="0F4662"/>
                </a:solidFill>
                <a:latin typeface="Quicksand 1"/>
                <a:ea typeface="Quicksand 1"/>
                <a:cs typeface="Quicksand 1"/>
                <a:sym typeface="Quicksand 1"/>
              </a:rPr>
              <a:t>Gamma Decoding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837770" y="5741436"/>
            <a:ext cx="2071533" cy="113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49"/>
              </a:lnSpc>
              <a:spcBef>
                <a:spcPct val="0"/>
              </a:spcBef>
            </a:pPr>
            <a:r>
              <a:rPr lang="en-US" sz="3099">
                <a:solidFill>
                  <a:srgbClr val="0F4662"/>
                </a:solidFill>
                <a:latin typeface="Quicksand 1"/>
                <a:ea typeface="Quicksand 1"/>
                <a:cs typeface="Quicksand 1"/>
                <a:sym typeface="Quicksand 1"/>
              </a:rPr>
              <a:t>Human Eye</a:t>
            </a:r>
          </a:p>
        </p:txBody>
      </p:sp>
      <p:sp>
        <p:nvSpPr>
          <p:cNvPr id="9" name="AutoShape 9"/>
          <p:cNvSpPr/>
          <p:nvPr/>
        </p:nvSpPr>
        <p:spPr>
          <a:xfrm>
            <a:off x="1847695" y="5314950"/>
            <a:ext cx="15025842" cy="0"/>
          </a:xfrm>
          <a:prstGeom prst="line">
            <a:avLst/>
          </a:prstGeom>
          <a:ln w="19050" cap="rnd">
            <a:solidFill>
              <a:srgbClr val="A9BEC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grpSp>
        <p:nvGrpSpPr>
          <p:cNvPr id="10" name="Group 10"/>
          <p:cNvGrpSpPr/>
          <p:nvPr/>
        </p:nvGrpSpPr>
        <p:grpSpPr>
          <a:xfrm>
            <a:off x="1523845" y="5153025"/>
            <a:ext cx="323850" cy="323850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9BECB"/>
            </a:solidFill>
          </p:spPr>
          <p:txBody>
            <a:bodyPr/>
            <a:lstStyle/>
            <a:p>
              <a:endParaRPr lang="LID4096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723323" y="5143500"/>
            <a:ext cx="323850" cy="323850"/>
            <a:chOff x="0" y="0"/>
            <a:chExt cx="6350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9BECB"/>
            </a:solidFill>
          </p:spPr>
          <p:txBody>
            <a:bodyPr/>
            <a:lstStyle/>
            <a:p>
              <a:endParaRPr lang="LID4096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636505" y="5153025"/>
            <a:ext cx="323850" cy="323850"/>
            <a:chOff x="0" y="0"/>
            <a:chExt cx="6350000" cy="6350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9BECB"/>
            </a:solidFill>
          </p:spPr>
          <p:txBody>
            <a:bodyPr/>
            <a:lstStyle/>
            <a:p>
              <a:endParaRPr lang="LID4096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674980" y="5153025"/>
            <a:ext cx="323850" cy="323850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9BECB"/>
            </a:solidFill>
          </p:spPr>
          <p:txBody>
            <a:bodyPr/>
            <a:lstStyle/>
            <a:p>
              <a:endParaRPr lang="LID4096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598951" y="5153025"/>
            <a:ext cx="323850" cy="323850"/>
            <a:chOff x="0" y="0"/>
            <a:chExt cx="6350000" cy="635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9BECB"/>
            </a:solidFill>
          </p:spPr>
          <p:txBody>
            <a:bodyPr/>
            <a:lstStyle/>
            <a:p>
              <a:endParaRPr lang="LID4096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551530" y="5143500"/>
            <a:ext cx="323850" cy="323850"/>
            <a:chOff x="0" y="0"/>
            <a:chExt cx="6350000" cy="6350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9BECB"/>
            </a:solidFill>
          </p:spPr>
          <p:txBody>
            <a:bodyPr/>
            <a:lstStyle/>
            <a:p>
              <a:endParaRPr lang="LID4096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98463" y="580373"/>
            <a:ext cx="9560837" cy="9126254"/>
          </a:xfrm>
          <a:custGeom>
            <a:avLst/>
            <a:gdLst/>
            <a:ahLst/>
            <a:cxnLst/>
            <a:rect l="l" t="t" r="r" b="b"/>
            <a:pathLst>
              <a:path w="9560837" h="9126254">
                <a:moveTo>
                  <a:pt x="0" y="0"/>
                </a:moveTo>
                <a:lnTo>
                  <a:pt x="9560837" y="0"/>
                </a:lnTo>
                <a:lnTo>
                  <a:pt x="9560837" y="9126254"/>
                </a:lnTo>
                <a:lnTo>
                  <a:pt x="0" y="9126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grpSp>
        <p:nvGrpSpPr>
          <p:cNvPr id="3" name="Group 3"/>
          <p:cNvGrpSpPr/>
          <p:nvPr/>
        </p:nvGrpSpPr>
        <p:grpSpPr>
          <a:xfrm>
            <a:off x="2349633" y="4483245"/>
            <a:ext cx="3331771" cy="1320510"/>
            <a:chOff x="0" y="0"/>
            <a:chExt cx="4442361" cy="1760680"/>
          </a:xfrm>
        </p:grpSpPr>
        <p:sp>
          <p:nvSpPr>
            <p:cNvPr id="4" name="TextBox 4"/>
            <p:cNvSpPr txBox="1"/>
            <p:nvPr/>
          </p:nvSpPr>
          <p:spPr>
            <a:xfrm>
              <a:off x="0" y="353078"/>
              <a:ext cx="4442361" cy="14076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7331"/>
                </a:lnSpc>
                <a:spcBef>
                  <a:spcPct val="0"/>
                </a:spcBef>
              </a:pPr>
              <a:r>
                <a:rPr lang="en-US" sz="8146" b="1" i="1" u="none" strike="noStrike">
                  <a:solidFill>
                    <a:srgbClr val="0F4662"/>
                  </a:solidFill>
                  <a:latin typeface="Cormorant Garamond Bold Italics"/>
                  <a:ea typeface="Cormorant Garamond Bold Italics"/>
                  <a:cs typeface="Cormorant Garamond Bold Italics"/>
                  <a:sym typeface="Cormorant Garamond Bold Italics"/>
                </a:rPr>
                <a:t>s = C · r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076934" y="-95250"/>
              <a:ext cx="365427" cy="10519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6652"/>
                </a:lnSpc>
                <a:spcBef>
                  <a:spcPct val="0"/>
                </a:spcBef>
              </a:pPr>
              <a:r>
                <a:rPr lang="en-US" sz="4751" i="1">
                  <a:solidFill>
                    <a:srgbClr val="0F4662"/>
                  </a:solidFill>
                  <a:latin typeface="Cormorant Garamond Italics"/>
                  <a:ea typeface="Cormorant Garamond Italics"/>
                  <a:cs typeface="Cormorant Garamond Italics"/>
                  <a:sym typeface="Cormorant Garamond Italics"/>
                </a:rPr>
                <a:t>ɣ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6659" y="534552"/>
            <a:ext cx="17474683" cy="9217895"/>
          </a:xfrm>
          <a:custGeom>
            <a:avLst/>
            <a:gdLst/>
            <a:ahLst/>
            <a:cxnLst/>
            <a:rect l="l" t="t" r="r" b="b"/>
            <a:pathLst>
              <a:path w="17474683" h="9217895">
                <a:moveTo>
                  <a:pt x="0" y="0"/>
                </a:moveTo>
                <a:lnTo>
                  <a:pt x="17474682" y="0"/>
                </a:lnTo>
                <a:lnTo>
                  <a:pt x="17474682" y="9217896"/>
                </a:lnTo>
                <a:lnTo>
                  <a:pt x="0" y="92178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TextBox 3"/>
          <p:cNvSpPr txBox="1"/>
          <p:nvPr/>
        </p:nvSpPr>
        <p:spPr>
          <a:xfrm>
            <a:off x="4049392" y="4295427"/>
            <a:ext cx="10189216" cy="1819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085"/>
              </a:lnSpc>
              <a:spcBef>
                <a:spcPct val="0"/>
              </a:spcBef>
            </a:pPr>
            <a:r>
              <a:rPr lang="en-US" sz="12804" b="1">
                <a:solidFill>
                  <a:srgbClr val="0F4662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SIMULATOR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72771" y="3241712"/>
            <a:ext cx="5784164" cy="3889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168"/>
              </a:lnSpc>
              <a:spcBef>
                <a:spcPct val="0"/>
              </a:spcBef>
            </a:pPr>
            <a:r>
              <a:rPr lang="en-US" sz="9244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Introduction to Tone Mapping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324679" y="2193640"/>
            <a:ext cx="615993" cy="111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32"/>
              </a:lnSpc>
              <a:spcBef>
                <a:spcPct val="0"/>
              </a:spcBef>
            </a:pPr>
            <a:r>
              <a:rPr lang="en-US" sz="7847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24679" y="4670743"/>
            <a:ext cx="615993" cy="111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32"/>
              </a:lnSpc>
              <a:spcBef>
                <a:spcPct val="0"/>
              </a:spcBef>
            </a:pPr>
            <a:r>
              <a:rPr lang="en-US" sz="7847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24679" y="7327325"/>
            <a:ext cx="615993" cy="111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32"/>
              </a:lnSpc>
              <a:spcBef>
                <a:spcPct val="0"/>
              </a:spcBef>
            </a:pPr>
            <a:r>
              <a:rPr lang="en-US" sz="7847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3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117925" y="1581184"/>
            <a:ext cx="8429517" cy="2267553"/>
            <a:chOff x="0" y="0"/>
            <a:chExt cx="11239356" cy="3023404"/>
          </a:xfrm>
        </p:grpSpPr>
        <p:sp>
          <p:nvSpPr>
            <p:cNvPr id="7" name="TextBox 7"/>
            <p:cNvSpPr txBox="1"/>
            <p:nvPr/>
          </p:nvSpPr>
          <p:spPr>
            <a:xfrm>
              <a:off x="0" y="1070356"/>
              <a:ext cx="11239356" cy="19530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F4662"/>
                  </a:solidFill>
                  <a:latin typeface="Quicksand 1"/>
                  <a:ea typeface="Quicksand 1"/>
                  <a:cs typeface="Quicksand 1"/>
                  <a:sym typeface="Quicksand 1"/>
                </a:rPr>
                <a:t>T</a:t>
              </a:r>
              <a:r>
                <a:rPr lang="en-US" sz="2799" u="none">
                  <a:solidFill>
                    <a:srgbClr val="0F4662"/>
                  </a:solidFill>
                  <a:latin typeface="Quicksand 1"/>
                  <a:ea typeface="Quicksand 1"/>
                  <a:cs typeface="Quicksand 1"/>
                  <a:sym typeface="Quicksand 1"/>
                </a:rPr>
                <a:t>he span between the darkest and brightest values a system can simultaneously capture or display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38100"/>
              <a:ext cx="11239356" cy="7941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62"/>
                </a:lnSpc>
                <a:spcBef>
                  <a:spcPct val="0"/>
                </a:spcBef>
              </a:pPr>
              <a:r>
                <a:rPr lang="en-US" sz="4147" b="1" u="none">
                  <a:solidFill>
                    <a:srgbClr val="0F4662"/>
                  </a:solidFill>
                  <a:latin typeface="Quicksand 1 Bold"/>
                  <a:ea typeface="Quicksand 1 Bold"/>
                  <a:cs typeface="Quicksand 1 Bold"/>
                  <a:sym typeface="Quicksand 1 Bold"/>
                </a:rPr>
                <a:t>Dynamic Range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17925" y="4553587"/>
            <a:ext cx="8429517" cy="1276953"/>
            <a:chOff x="0" y="0"/>
            <a:chExt cx="11239356" cy="1702604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070356"/>
              <a:ext cx="11239356" cy="6322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91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0F4662"/>
                  </a:solidFill>
                  <a:latin typeface="Quicksand 1"/>
                  <a:ea typeface="Quicksand 1"/>
                  <a:cs typeface="Quicksand 1"/>
                  <a:sym typeface="Quicksand 1"/>
                </a:rPr>
                <a:t>An image format with a limited brightness range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38100"/>
              <a:ext cx="11239356" cy="7941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62"/>
                </a:lnSpc>
                <a:spcBef>
                  <a:spcPct val="0"/>
                </a:spcBef>
              </a:pPr>
              <a:r>
                <a:rPr lang="en-US" sz="4147" b="1" u="none">
                  <a:solidFill>
                    <a:srgbClr val="0F4662"/>
                  </a:solidFill>
                  <a:latin typeface="Quicksand 1 Bold"/>
                  <a:ea typeface="Quicksand 1 Bold"/>
                  <a:cs typeface="Quicksand 1 Bold"/>
                  <a:sym typeface="Quicksand 1 Bold"/>
                </a:rPr>
                <a:t>Low Dynamic Range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17925" y="6991474"/>
            <a:ext cx="8429517" cy="1714342"/>
            <a:chOff x="0" y="0"/>
            <a:chExt cx="11239356" cy="2285789"/>
          </a:xfrm>
        </p:grpSpPr>
        <p:sp>
          <p:nvSpPr>
            <p:cNvPr id="13" name="TextBox 13"/>
            <p:cNvSpPr txBox="1"/>
            <p:nvPr/>
          </p:nvSpPr>
          <p:spPr>
            <a:xfrm>
              <a:off x="0" y="993141"/>
              <a:ext cx="11239356" cy="1292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91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0F4662"/>
                  </a:solidFill>
                  <a:latin typeface="Quicksand 1"/>
                  <a:ea typeface="Quicksand 1"/>
                  <a:cs typeface="Quicksand 1"/>
                  <a:sym typeface="Quicksand 1"/>
                </a:rPr>
                <a:t>An image format that stores a wider range of brightness values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38100"/>
              <a:ext cx="11239356" cy="7941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62"/>
                </a:lnSpc>
                <a:spcBef>
                  <a:spcPct val="0"/>
                </a:spcBef>
              </a:pPr>
              <a:r>
                <a:rPr lang="en-US" sz="4147" b="1" u="none">
                  <a:solidFill>
                    <a:srgbClr val="0F4662"/>
                  </a:solidFill>
                  <a:latin typeface="Quicksand 1 Bold"/>
                  <a:ea typeface="Quicksand 1 Bold"/>
                  <a:cs typeface="Quicksand 1 Bold"/>
                  <a:sym typeface="Quicksand 1 Bold"/>
                </a:rPr>
                <a:t>High Dynamic Range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60070"/>
            <a:ext cx="18288000" cy="9166860"/>
          </a:xfrm>
          <a:custGeom>
            <a:avLst/>
            <a:gdLst/>
            <a:ahLst/>
            <a:cxnLst/>
            <a:rect l="l" t="t" r="r" b="b"/>
            <a:pathLst>
              <a:path w="18288000" h="9166860">
                <a:moveTo>
                  <a:pt x="0" y="0"/>
                </a:moveTo>
                <a:lnTo>
                  <a:pt x="18288000" y="0"/>
                </a:lnTo>
                <a:lnTo>
                  <a:pt x="18288000" y="9166860"/>
                </a:lnTo>
                <a:lnTo>
                  <a:pt x="0" y="9166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Five Dots Icon"/>
          <p:cNvSpPr/>
          <p:nvPr/>
        </p:nvSpPr>
        <p:spPr>
          <a:xfrm>
            <a:off x="8304001" y="2017312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Freeform 3" descr="Five Dots Icon"/>
          <p:cNvSpPr/>
          <p:nvPr/>
        </p:nvSpPr>
        <p:spPr>
          <a:xfrm>
            <a:off x="8304001" y="8019789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TextBox 4"/>
          <p:cNvSpPr txBox="1"/>
          <p:nvPr/>
        </p:nvSpPr>
        <p:spPr>
          <a:xfrm>
            <a:off x="4054468" y="3667386"/>
            <a:ext cx="10179064" cy="2943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32"/>
              </a:lnSpc>
            </a:pPr>
            <a:r>
              <a:rPr lang="en-US" sz="4860" b="1">
                <a:solidFill>
                  <a:srgbClr val="0F4662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“If an image was captured in HDR, how can we display it on an LDR screen while maintaining the overall quality of the original image?”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806769" y="1134176"/>
            <a:ext cx="11452531" cy="1636900"/>
            <a:chOff x="0" y="0"/>
            <a:chExt cx="15270042" cy="2182534"/>
          </a:xfrm>
        </p:grpSpPr>
        <p:sp>
          <p:nvSpPr>
            <p:cNvPr id="3" name="TextBox 3"/>
            <p:cNvSpPr txBox="1"/>
            <p:nvPr/>
          </p:nvSpPr>
          <p:spPr>
            <a:xfrm>
              <a:off x="0" y="-66675"/>
              <a:ext cx="15270042" cy="7061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4447"/>
                </a:lnSpc>
              </a:pPr>
              <a:r>
                <a:rPr lang="en-US" sz="3176" b="1">
                  <a:solidFill>
                    <a:srgbClr val="0F4662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What?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842049"/>
              <a:ext cx="15270042" cy="13404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4199"/>
                </a:lnSpc>
              </a:pPr>
              <a:r>
                <a:rPr lang="en-US" sz="2799">
                  <a:solidFill>
                    <a:srgbClr val="0F4662"/>
                  </a:solidFill>
                  <a:latin typeface="Quicksand 2"/>
                  <a:ea typeface="Quicksand 2"/>
                  <a:cs typeface="Quicksand 2"/>
                  <a:sym typeface="Quicksand 2"/>
                </a:rPr>
                <a:t>Remapping HDR (thousands of nits) → LDR (~100 nits) while preserving perceived detail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806769" y="3409251"/>
            <a:ext cx="11452531" cy="2160775"/>
            <a:chOff x="0" y="0"/>
            <a:chExt cx="15270042" cy="2881034"/>
          </a:xfrm>
        </p:grpSpPr>
        <p:sp>
          <p:nvSpPr>
            <p:cNvPr id="6" name="TextBox 6"/>
            <p:cNvSpPr txBox="1"/>
            <p:nvPr/>
          </p:nvSpPr>
          <p:spPr>
            <a:xfrm>
              <a:off x="0" y="-66675"/>
              <a:ext cx="15270042" cy="7061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4447"/>
                </a:lnSpc>
              </a:pPr>
              <a:r>
                <a:rPr lang="en-US" sz="3176" b="1">
                  <a:solidFill>
                    <a:srgbClr val="0F4662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Why?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42049"/>
              <a:ext cx="15270042" cy="2038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19" lvl="1" indent="-302260" algn="just">
                <a:lnSpc>
                  <a:spcPts val="4199"/>
                </a:lnSpc>
                <a:buFont typeface="Arial"/>
                <a:buChar char="•"/>
              </a:pPr>
              <a:r>
                <a:rPr lang="en-US" sz="2799">
                  <a:solidFill>
                    <a:srgbClr val="0F4662"/>
                  </a:solidFill>
                  <a:latin typeface="Quicksand 2"/>
                  <a:ea typeface="Quicksand 2"/>
                  <a:cs typeface="Quicksand 2"/>
                  <a:sym typeface="Quicksand 2"/>
                </a:rPr>
                <a:t>Clipping </a:t>
              </a:r>
            </a:p>
            <a:p>
              <a:pPr marL="604519" lvl="1" indent="-302260" algn="just">
                <a:lnSpc>
                  <a:spcPts val="4199"/>
                </a:lnSpc>
                <a:buFont typeface="Arial"/>
                <a:buChar char="•"/>
              </a:pPr>
              <a:r>
                <a:rPr lang="en-US" sz="2799">
                  <a:solidFill>
                    <a:srgbClr val="0F4662"/>
                  </a:solidFill>
                  <a:latin typeface="Quicksand 2"/>
                  <a:ea typeface="Quicksand 2"/>
                  <a:cs typeface="Quicksand 2"/>
                  <a:sym typeface="Quicksand 2"/>
                </a:rPr>
                <a:t>Crushing</a:t>
              </a:r>
            </a:p>
            <a:p>
              <a:pPr marL="0" lvl="0" indent="0" algn="just">
                <a:lnSpc>
                  <a:spcPts val="4199"/>
                </a:lnSpc>
              </a:pPr>
              <a:r>
                <a:rPr lang="en-US" sz="2799">
                  <a:solidFill>
                    <a:srgbClr val="0F4662"/>
                  </a:solidFill>
                  <a:latin typeface="Quicksand 2"/>
                  <a:ea typeface="Quicksand 2"/>
                  <a:cs typeface="Quicksand 2"/>
                  <a:sym typeface="Quicksand 2"/>
                </a:rPr>
                <a:t>Tone mapping prevents both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806769" y="5944299"/>
            <a:ext cx="11452531" cy="3208525"/>
            <a:chOff x="0" y="0"/>
            <a:chExt cx="15270042" cy="4278034"/>
          </a:xfrm>
        </p:grpSpPr>
        <p:sp>
          <p:nvSpPr>
            <p:cNvPr id="9" name="TextBox 9"/>
            <p:cNvSpPr txBox="1"/>
            <p:nvPr/>
          </p:nvSpPr>
          <p:spPr>
            <a:xfrm>
              <a:off x="0" y="-66675"/>
              <a:ext cx="15270042" cy="7061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4447"/>
                </a:lnSpc>
              </a:pPr>
              <a:r>
                <a:rPr lang="en-US" sz="3176" b="1">
                  <a:solidFill>
                    <a:srgbClr val="0F4662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How?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842049"/>
              <a:ext cx="15270042" cy="3435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4199"/>
                </a:lnSpc>
              </a:pPr>
              <a:r>
                <a:rPr lang="en-US" sz="2799">
                  <a:solidFill>
                    <a:srgbClr val="0F4662"/>
                  </a:solidFill>
                  <a:latin typeface="Quicksand 2"/>
                  <a:ea typeface="Quicksand 2"/>
                  <a:cs typeface="Quicksand 2"/>
                  <a:sym typeface="Quicksand 2"/>
                </a:rPr>
                <a:t>A Tone Mapping Operator (TMO) applies a non-linear curve to luminance values:</a:t>
              </a:r>
            </a:p>
            <a:p>
              <a:pPr marL="604519" lvl="1" indent="-302260" algn="just">
                <a:lnSpc>
                  <a:spcPts val="4199"/>
                </a:lnSpc>
                <a:buFont typeface="Arial"/>
                <a:buChar char="•"/>
              </a:pPr>
              <a:r>
                <a:rPr lang="en-US" sz="2799">
                  <a:solidFill>
                    <a:srgbClr val="0F4662"/>
                  </a:solidFill>
                  <a:latin typeface="Quicksand 2"/>
                  <a:ea typeface="Quicksand 2"/>
                  <a:cs typeface="Quicksand 2"/>
                  <a:sym typeface="Quicksand 2"/>
                </a:rPr>
                <a:t>Preserves detail</a:t>
              </a:r>
            </a:p>
            <a:p>
              <a:pPr marL="604519" lvl="1" indent="-302260" algn="just">
                <a:lnSpc>
                  <a:spcPts val="4199"/>
                </a:lnSpc>
                <a:buFont typeface="Arial"/>
                <a:buChar char="•"/>
              </a:pPr>
              <a:r>
                <a:rPr lang="en-US" sz="2799">
                  <a:solidFill>
                    <a:srgbClr val="0F4662"/>
                  </a:solidFill>
                  <a:latin typeface="Quicksand 2"/>
                  <a:ea typeface="Quicksand 2"/>
                  <a:cs typeface="Quicksand 2"/>
                  <a:sym typeface="Quicksand 2"/>
                </a:rPr>
                <a:t>Compresses highlights without clipping</a:t>
              </a:r>
            </a:p>
            <a:p>
              <a:pPr marL="0" lvl="0" indent="0" algn="just">
                <a:lnSpc>
                  <a:spcPts val="4199"/>
                </a:lnSpc>
              </a:pPr>
              <a:r>
                <a:rPr lang="en-US" sz="2799">
                  <a:solidFill>
                    <a:srgbClr val="0F4662"/>
                  </a:solidFill>
                  <a:latin typeface="Quicksand 2"/>
                  <a:ea typeface="Quicksand 2"/>
                  <a:cs typeface="Quicksand 2"/>
                  <a:sym typeface="Quicksand 2"/>
                </a:rPr>
                <a:t>Common operators: Reinhard · ACES Filmic · Hable (Uncharted 2)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09309" y="4154522"/>
            <a:ext cx="3064258" cy="2044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69"/>
              </a:lnSpc>
            </a:pPr>
            <a:r>
              <a:rPr lang="en-US" sz="7244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Tone </a:t>
            </a:r>
          </a:p>
          <a:p>
            <a:pPr marL="0" lvl="0" indent="0" algn="ctr">
              <a:lnSpc>
                <a:spcPts val="7969"/>
              </a:lnSpc>
              <a:spcBef>
                <a:spcPct val="0"/>
              </a:spcBef>
            </a:pPr>
            <a:r>
              <a:rPr lang="en-US" sz="7244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Mapping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1421" y="867210"/>
            <a:ext cx="17105159" cy="8552579"/>
          </a:xfrm>
          <a:custGeom>
            <a:avLst/>
            <a:gdLst/>
            <a:ahLst/>
            <a:cxnLst/>
            <a:rect l="l" t="t" r="r" b="b"/>
            <a:pathLst>
              <a:path w="17105159" h="8552579">
                <a:moveTo>
                  <a:pt x="0" y="0"/>
                </a:moveTo>
                <a:lnTo>
                  <a:pt x="17105158" y="0"/>
                </a:lnTo>
                <a:lnTo>
                  <a:pt x="17105158" y="8552580"/>
                </a:lnTo>
                <a:lnTo>
                  <a:pt x="0" y="8552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3" name="TextBox 3"/>
          <p:cNvSpPr txBox="1"/>
          <p:nvPr/>
        </p:nvSpPr>
        <p:spPr>
          <a:xfrm>
            <a:off x="4049392" y="4295427"/>
            <a:ext cx="10189216" cy="1819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085"/>
              </a:lnSpc>
              <a:spcBef>
                <a:spcPct val="0"/>
              </a:spcBef>
            </a:pPr>
            <a:r>
              <a:rPr lang="en-US" sz="12804" b="1">
                <a:solidFill>
                  <a:srgbClr val="0F4662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SIMULATOR</a:t>
            </a:r>
          </a:p>
        </p:txBody>
      </p:sp>
    </p:spTree>
  </p:cSld>
  <p:clrMapOvr>
    <a:masterClrMapping/>
  </p:clrMapOvr>
  <p:transition spd="slow">
    <p:cover dir="r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4435" y="4133850"/>
            <a:ext cx="5201573" cy="201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9"/>
              </a:lnSpc>
            </a:pPr>
            <a:r>
              <a:rPr lang="en-US" sz="6675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Real-World Applications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144000" y="1781493"/>
            <a:ext cx="6254835" cy="711200"/>
            <a:chOff x="0" y="0"/>
            <a:chExt cx="8339780" cy="948267"/>
          </a:xfrm>
        </p:grpSpPr>
        <p:sp>
          <p:nvSpPr>
            <p:cNvPr id="4" name="TextBox 4"/>
            <p:cNvSpPr txBox="1"/>
            <p:nvPr/>
          </p:nvSpPr>
          <p:spPr>
            <a:xfrm>
              <a:off x="1197467" y="83961"/>
              <a:ext cx="7142313" cy="723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66"/>
                </a:lnSpc>
              </a:pPr>
              <a:r>
                <a:rPr lang="en-US" sz="3333">
                  <a:solidFill>
                    <a:srgbClr val="0F4662"/>
                  </a:solidFill>
                  <a:latin typeface="Quicksand 2"/>
                  <a:ea typeface="Quicksand 2"/>
                  <a:cs typeface="Quicksand 2"/>
                  <a:sym typeface="Quicksand 2"/>
                </a:rPr>
                <a:t>Photography &amp; Camera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763079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4666" b="1" i="1">
                  <a:solidFill>
                    <a:srgbClr val="0F4662"/>
                  </a:solidFill>
                  <a:latin typeface="Cormorant Garamond Bold Italics"/>
                  <a:ea typeface="Cormorant Garamond Bold Italics"/>
                  <a:cs typeface="Cormorant Garamond Bold Italics"/>
                  <a:sym typeface="Cormorant Garamond Bold Italics"/>
                </a:rPr>
                <a:t>01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0" y="3285173"/>
            <a:ext cx="6254835" cy="711200"/>
            <a:chOff x="0" y="0"/>
            <a:chExt cx="8339780" cy="948267"/>
          </a:xfrm>
        </p:grpSpPr>
        <p:sp>
          <p:nvSpPr>
            <p:cNvPr id="7" name="TextBox 7"/>
            <p:cNvSpPr txBox="1"/>
            <p:nvPr/>
          </p:nvSpPr>
          <p:spPr>
            <a:xfrm>
              <a:off x="1197467" y="83961"/>
              <a:ext cx="7142313" cy="723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66"/>
                </a:lnSpc>
              </a:pPr>
              <a:r>
                <a:rPr lang="en-US" sz="3333">
                  <a:solidFill>
                    <a:srgbClr val="0F4662"/>
                  </a:solidFill>
                  <a:latin typeface="Quicksand 2"/>
                  <a:ea typeface="Quicksand 2"/>
                  <a:cs typeface="Quicksand 2"/>
                  <a:sym typeface="Quicksand 2"/>
                </a:rPr>
                <a:t>Advertising &amp; Marketing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763079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4666" b="1" i="1">
                  <a:solidFill>
                    <a:srgbClr val="0F4662"/>
                  </a:solidFill>
                  <a:latin typeface="Cormorant Garamond Bold Italics"/>
                  <a:ea typeface="Cormorant Garamond Bold Italics"/>
                  <a:cs typeface="Cormorant Garamond Bold Italics"/>
                  <a:sym typeface="Cormorant Garamond Bold Italics"/>
                </a:rPr>
                <a:t>02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0" y="4788853"/>
            <a:ext cx="6254835" cy="711200"/>
            <a:chOff x="0" y="0"/>
            <a:chExt cx="8339780" cy="948267"/>
          </a:xfrm>
        </p:grpSpPr>
        <p:sp>
          <p:nvSpPr>
            <p:cNvPr id="10" name="TextBox 10"/>
            <p:cNvSpPr txBox="1"/>
            <p:nvPr/>
          </p:nvSpPr>
          <p:spPr>
            <a:xfrm>
              <a:off x="1197467" y="83961"/>
              <a:ext cx="7142313" cy="723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66"/>
                </a:lnSpc>
              </a:pPr>
              <a:r>
                <a:rPr lang="en-US" sz="3333">
                  <a:solidFill>
                    <a:srgbClr val="0F4662"/>
                  </a:solidFill>
                  <a:latin typeface="Quicksand 2"/>
                  <a:ea typeface="Quicksand 2"/>
                  <a:cs typeface="Quicksand 2"/>
                  <a:sym typeface="Quicksand 2"/>
                </a:rPr>
                <a:t>Radiographic Imaging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763079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4666" b="1" i="1">
                  <a:solidFill>
                    <a:srgbClr val="0F4662"/>
                  </a:solidFill>
                  <a:latin typeface="Cormorant Garamond Bold Italics"/>
                  <a:ea typeface="Cormorant Garamond Bold Italics"/>
                  <a:cs typeface="Cormorant Garamond Bold Italics"/>
                  <a:sym typeface="Cormorant Garamond Bold Italics"/>
                </a:rPr>
                <a:t>03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44000" y="6292533"/>
            <a:ext cx="6254835" cy="711200"/>
            <a:chOff x="0" y="0"/>
            <a:chExt cx="8339780" cy="948267"/>
          </a:xfrm>
        </p:grpSpPr>
        <p:sp>
          <p:nvSpPr>
            <p:cNvPr id="13" name="TextBox 13"/>
            <p:cNvSpPr txBox="1"/>
            <p:nvPr/>
          </p:nvSpPr>
          <p:spPr>
            <a:xfrm>
              <a:off x="1197467" y="83961"/>
              <a:ext cx="7142313" cy="723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66"/>
                </a:lnSpc>
              </a:pPr>
              <a:r>
                <a:rPr lang="en-US" sz="3333">
                  <a:solidFill>
                    <a:srgbClr val="0F4662"/>
                  </a:solidFill>
                  <a:latin typeface="Quicksand 2"/>
                  <a:ea typeface="Quicksand 2"/>
                  <a:cs typeface="Quicksand 2"/>
                  <a:sym typeface="Quicksand 2"/>
                </a:rPr>
                <a:t>Video Games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763079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4666" b="1" i="1">
                  <a:solidFill>
                    <a:srgbClr val="0F4662"/>
                  </a:solidFill>
                  <a:latin typeface="Cormorant Garamond Bold Italics"/>
                  <a:ea typeface="Cormorant Garamond Bold Italics"/>
                  <a:cs typeface="Cormorant Garamond Bold Italics"/>
                  <a:sym typeface="Cormorant Garamond Bold Italics"/>
                </a:rPr>
                <a:t>04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4000" y="7794308"/>
            <a:ext cx="6254835" cy="711200"/>
            <a:chOff x="0" y="0"/>
            <a:chExt cx="8339780" cy="948267"/>
          </a:xfrm>
        </p:grpSpPr>
        <p:sp>
          <p:nvSpPr>
            <p:cNvPr id="16" name="TextBox 16"/>
            <p:cNvSpPr txBox="1"/>
            <p:nvPr/>
          </p:nvSpPr>
          <p:spPr>
            <a:xfrm>
              <a:off x="1197467" y="83961"/>
              <a:ext cx="7142313" cy="723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66"/>
                </a:lnSpc>
              </a:pPr>
              <a:r>
                <a:rPr lang="en-US" sz="3333">
                  <a:solidFill>
                    <a:srgbClr val="0F4662"/>
                  </a:solidFill>
                  <a:latin typeface="Quicksand 2"/>
                  <a:ea typeface="Quicksand 2"/>
                  <a:cs typeface="Quicksand 2"/>
                  <a:sym typeface="Quicksand 2"/>
                </a:rPr>
                <a:t>Display Hardware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763079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4666" b="1" i="1">
                  <a:solidFill>
                    <a:srgbClr val="0F4662"/>
                  </a:solidFill>
                  <a:latin typeface="Cormorant Garamond Bold Italics"/>
                  <a:ea typeface="Cormorant Garamond Bold Italics"/>
                  <a:cs typeface="Cormorant Garamond Bold Italics"/>
                  <a:sym typeface="Cormorant Garamond Bold Italics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755624"/>
            <a:ext cx="16230600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299"/>
              </a:lnSpc>
              <a:spcBef>
                <a:spcPct val="0"/>
              </a:spcBef>
            </a:pPr>
            <a:r>
              <a:rPr lang="en-US" sz="6999" b="1" i="1" u="none" strike="noStrik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Limitations &amp; Failure Cases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854558" y="3453472"/>
            <a:ext cx="4464480" cy="4926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97"/>
              </a:lnSpc>
            </a:pPr>
            <a:r>
              <a:rPr lang="en-US" sz="3199" b="1">
                <a:solidFill>
                  <a:srgbClr val="0F4662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Problem</a:t>
            </a:r>
          </a:p>
          <a:p>
            <a:pPr algn="ctr">
              <a:lnSpc>
                <a:spcPts val="7997"/>
              </a:lnSpc>
            </a:pPr>
            <a:r>
              <a:rPr lang="en-US" sz="3199">
                <a:solidFill>
                  <a:srgbClr val="0F4662"/>
                </a:solidFill>
                <a:latin typeface="Quicksand 2"/>
                <a:ea typeface="Quicksand 2"/>
                <a:cs typeface="Quicksand 2"/>
                <a:sym typeface="Quicksand 2"/>
              </a:rPr>
              <a:t>blurry edge detection</a:t>
            </a:r>
          </a:p>
          <a:p>
            <a:pPr algn="ctr">
              <a:lnSpc>
                <a:spcPts val="7997"/>
              </a:lnSpc>
            </a:pPr>
            <a:r>
              <a:rPr lang="en-US" sz="3199">
                <a:solidFill>
                  <a:srgbClr val="0F4662"/>
                </a:solidFill>
                <a:latin typeface="Quicksand 2"/>
                <a:ea typeface="Quicksand 2"/>
                <a:cs typeface="Quicksand 2"/>
                <a:sym typeface="Quicksand 2"/>
              </a:rPr>
              <a:t>double gamma</a:t>
            </a:r>
          </a:p>
          <a:p>
            <a:pPr algn="ctr">
              <a:lnSpc>
                <a:spcPts val="7997"/>
              </a:lnSpc>
            </a:pPr>
            <a:r>
              <a:rPr lang="en-US" sz="3199">
                <a:solidFill>
                  <a:srgbClr val="0F4662"/>
                </a:solidFill>
                <a:latin typeface="Quicksand 2"/>
                <a:ea typeface="Quicksand 2"/>
                <a:cs typeface="Quicksand 2"/>
                <a:sym typeface="Quicksand 2"/>
              </a:rPr>
              <a:t>dark areas amplified</a:t>
            </a:r>
          </a:p>
          <a:p>
            <a:pPr marL="0" lvl="0" indent="0" algn="ctr">
              <a:lnSpc>
                <a:spcPts val="7997"/>
              </a:lnSpc>
            </a:pPr>
            <a:r>
              <a:rPr lang="en-US" sz="3199">
                <a:solidFill>
                  <a:srgbClr val="0F4662"/>
                </a:solidFill>
                <a:latin typeface="Quicksand 2"/>
                <a:ea typeface="Quicksand 2"/>
                <a:cs typeface="Quicksand 2"/>
                <a:sym typeface="Quicksand 2"/>
              </a:rPr>
              <a:t>colour desaturation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667200" y="3469384"/>
            <a:ext cx="4798297" cy="4916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5"/>
              </a:lnSpc>
            </a:pPr>
            <a:r>
              <a:rPr lang="en-US" sz="3202" b="1">
                <a:solidFill>
                  <a:srgbClr val="0F4662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Effect</a:t>
            </a:r>
          </a:p>
          <a:p>
            <a:pPr algn="ctr">
              <a:lnSpc>
                <a:spcPts val="8005"/>
              </a:lnSpc>
            </a:pPr>
            <a:r>
              <a:rPr lang="en-US" sz="3202">
                <a:solidFill>
                  <a:srgbClr val="0F4662"/>
                </a:solidFill>
                <a:latin typeface="Quicksand 2"/>
                <a:ea typeface="Quicksand 2"/>
                <a:cs typeface="Quicksand 2"/>
                <a:sym typeface="Quicksand 2"/>
              </a:rPr>
              <a:t>glowing edges</a:t>
            </a:r>
          </a:p>
          <a:p>
            <a:pPr algn="ctr">
              <a:lnSpc>
                <a:spcPts val="8005"/>
              </a:lnSpc>
            </a:pPr>
            <a:r>
              <a:rPr lang="en-US" sz="3202">
                <a:solidFill>
                  <a:srgbClr val="0F4662"/>
                </a:solidFill>
                <a:latin typeface="Quicksand 2"/>
                <a:ea typeface="Quicksand 2"/>
                <a:cs typeface="Quicksand 2"/>
                <a:sym typeface="Quicksand 2"/>
              </a:rPr>
              <a:t>washed-out image</a:t>
            </a:r>
          </a:p>
          <a:p>
            <a:pPr algn="ctr">
              <a:lnSpc>
                <a:spcPts val="8005"/>
              </a:lnSpc>
            </a:pPr>
            <a:r>
              <a:rPr lang="en-US" sz="3202">
                <a:solidFill>
                  <a:srgbClr val="0F4662"/>
                </a:solidFill>
                <a:latin typeface="Quicksand 2"/>
                <a:ea typeface="Quicksand 2"/>
                <a:cs typeface="Quicksand 2"/>
                <a:sym typeface="Quicksand 2"/>
              </a:rPr>
              <a:t>grain in dark areas</a:t>
            </a:r>
          </a:p>
          <a:p>
            <a:pPr marL="0" lvl="0" indent="0" algn="ctr">
              <a:lnSpc>
                <a:spcPts val="8005"/>
              </a:lnSpc>
            </a:pPr>
            <a:r>
              <a:rPr lang="en-US" sz="3202">
                <a:solidFill>
                  <a:srgbClr val="0F4662"/>
                </a:solidFill>
                <a:latin typeface="Quicksand 2"/>
                <a:ea typeface="Quicksand 2"/>
                <a:cs typeface="Quicksand 2"/>
                <a:sym typeface="Quicksand 2"/>
              </a:rPr>
              <a:t>unrealistic colours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60628" y="4480311"/>
            <a:ext cx="508026" cy="3800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7"/>
              </a:lnSpc>
            </a:pPr>
            <a:r>
              <a:rPr lang="en-US" sz="3106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01</a:t>
            </a:r>
          </a:p>
          <a:p>
            <a:pPr algn="l">
              <a:lnSpc>
                <a:spcPts val="7767"/>
              </a:lnSpc>
            </a:pPr>
            <a:r>
              <a:rPr lang="en-US" sz="3106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02</a:t>
            </a:r>
          </a:p>
          <a:p>
            <a:pPr algn="l">
              <a:lnSpc>
                <a:spcPts val="7767"/>
              </a:lnSpc>
            </a:pPr>
            <a:r>
              <a:rPr lang="en-US" sz="3106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03</a:t>
            </a:r>
          </a:p>
          <a:p>
            <a:pPr algn="l">
              <a:lnSpc>
                <a:spcPts val="7767"/>
              </a:lnSpc>
            </a:pPr>
            <a:r>
              <a:rPr lang="en-US" sz="3106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04</a:t>
            </a:r>
          </a:p>
        </p:txBody>
      </p:sp>
      <p:sp>
        <p:nvSpPr>
          <p:cNvPr id="6" name="AutoShape 6"/>
          <p:cNvSpPr/>
          <p:nvPr/>
        </p:nvSpPr>
        <p:spPr>
          <a:xfrm>
            <a:off x="7319038" y="3715944"/>
            <a:ext cx="0" cy="4664043"/>
          </a:xfrm>
          <a:prstGeom prst="line">
            <a:avLst/>
          </a:prstGeom>
          <a:ln w="9525" cap="rnd">
            <a:solidFill>
              <a:srgbClr val="A9BEC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7" name="AutoShape 7"/>
          <p:cNvSpPr/>
          <p:nvPr/>
        </p:nvSpPr>
        <p:spPr>
          <a:xfrm>
            <a:off x="2854558" y="3715944"/>
            <a:ext cx="0" cy="4565129"/>
          </a:xfrm>
          <a:prstGeom prst="line">
            <a:avLst/>
          </a:prstGeom>
          <a:ln w="9525" cap="rnd">
            <a:solidFill>
              <a:srgbClr val="A9BEC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8" name="AutoShape 8"/>
          <p:cNvSpPr/>
          <p:nvPr/>
        </p:nvSpPr>
        <p:spPr>
          <a:xfrm flipH="1" flipV="1">
            <a:off x="1489230" y="4621214"/>
            <a:ext cx="14526585" cy="0"/>
          </a:xfrm>
          <a:prstGeom prst="line">
            <a:avLst/>
          </a:prstGeom>
          <a:ln w="9525" cap="rnd">
            <a:solidFill>
              <a:srgbClr val="A9BEC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Box 9"/>
          <p:cNvSpPr txBox="1"/>
          <p:nvPr/>
        </p:nvSpPr>
        <p:spPr>
          <a:xfrm>
            <a:off x="7682625" y="3459859"/>
            <a:ext cx="3620988" cy="4920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97"/>
              </a:lnSpc>
            </a:pPr>
            <a:r>
              <a:rPr lang="en-US" sz="3199" b="1">
                <a:solidFill>
                  <a:srgbClr val="0F4662"/>
                </a:solidFill>
                <a:latin typeface="Quicksand 2 Bold"/>
                <a:ea typeface="Quicksand 2 Bold"/>
                <a:cs typeface="Quicksand 2 Bold"/>
                <a:sym typeface="Quicksand 2 Bold"/>
              </a:rPr>
              <a:t>When</a:t>
            </a:r>
          </a:p>
          <a:p>
            <a:pPr algn="ctr">
              <a:lnSpc>
                <a:spcPts val="7997"/>
              </a:lnSpc>
            </a:pPr>
            <a:r>
              <a:rPr lang="en-US" sz="3199">
                <a:solidFill>
                  <a:srgbClr val="0F4662"/>
                </a:solidFill>
                <a:latin typeface="Quicksand 2"/>
                <a:ea typeface="Quicksand 2"/>
                <a:cs typeface="Quicksand 2"/>
                <a:sym typeface="Quicksand 2"/>
              </a:rPr>
              <a:t>local tone mapping</a:t>
            </a:r>
          </a:p>
          <a:p>
            <a:pPr algn="ctr">
              <a:lnSpc>
                <a:spcPts val="7997"/>
              </a:lnSpc>
            </a:pPr>
            <a:r>
              <a:rPr lang="en-US" sz="3199">
                <a:solidFill>
                  <a:srgbClr val="0F4662"/>
                </a:solidFill>
                <a:latin typeface="Quicksand 2"/>
                <a:ea typeface="Quicksand 2"/>
                <a:cs typeface="Quicksand 2"/>
                <a:sym typeface="Quicksand 2"/>
              </a:rPr>
              <a:t>post-production</a:t>
            </a:r>
          </a:p>
          <a:p>
            <a:pPr algn="ctr">
              <a:lnSpc>
                <a:spcPts val="7997"/>
              </a:lnSpc>
            </a:pPr>
            <a:r>
              <a:rPr lang="en-US" sz="3199">
                <a:solidFill>
                  <a:srgbClr val="0F4662"/>
                </a:solidFill>
                <a:latin typeface="Quicksand 2"/>
                <a:ea typeface="Quicksand 2"/>
                <a:cs typeface="Quicksand 2"/>
                <a:sym typeface="Quicksand 2"/>
              </a:rPr>
              <a:t>HDR video</a:t>
            </a:r>
          </a:p>
          <a:p>
            <a:pPr marL="0" lvl="0" indent="0" algn="ctr">
              <a:lnSpc>
                <a:spcPts val="7997"/>
              </a:lnSpc>
            </a:pPr>
            <a:r>
              <a:rPr lang="en-US" sz="3199">
                <a:solidFill>
                  <a:srgbClr val="0F4662"/>
                </a:solidFill>
                <a:latin typeface="Quicksand 2"/>
                <a:ea typeface="Quicksand 2"/>
                <a:cs typeface="Quicksand 2"/>
                <a:sym typeface="Quicksand 2"/>
              </a:rPr>
              <a:t>global operators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1667200" y="3715944"/>
            <a:ext cx="0" cy="4669897"/>
          </a:xfrm>
          <a:prstGeom prst="line">
            <a:avLst/>
          </a:prstGeom>
          <a:ln w="9525" cap="rnd">
            <a:solidFill>
              <a:srgbClr val="A9BEC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333197"/>
            <a:ext cx="7621050" cy="2594265"/>
            <a:chOff x="0" y="0"/>
            <a:chExt cx="10161400" cy="3459020"/>
          </a:xfrm>
        </p:grpSpPr>
        <p:sp>
          <p:nvSpPr>
            <p:cNvPr id="3" name="TextBox 3"/>
            <p:cNvSpPr txBox="1"/>
            <p:nvPr/>
          </p:nvSpPr>
          <p:spPr>
            <a:xfrm>
              <a:off x="0" y="1253293"/>
              <a:ext cx="10161400" cy="2205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1"/>
                </a:lnSpc>
                <a:spcBef>
                  <a:spcPct val="0"/>
                </a:spcBef>
              </a:pPr>
              <a:r>
                <a:rPr lang="en-US" sz="2946" u="none" strike="noStrike" dirty="0">
                  <a:solidFill>
                    <a:srgbClr val="0F4662"/>
                  </a:solidFill>
                  <a:latin typeface="Quicksand 2"/>
                  <a:ea typeface="Quicksand 2"/>
                  <a:cs typeface="Quicksand 2"/>
                  <a:sym typeface="Quicksand 2"/>
                </a:rPr>
                <a:t>Gamma Correction</a:t>
              </a:r>
            </a:p>
            <a:p>
              <a:pPr marL="0" lvl="0" indent="0" algn="l">
                <a:lnSpc>
                  <a:spcPts val="3241"/>
                </a:lnSpc>
                <a:spcBef>
                  <a:spcPct val="0"/>
                </a:spcBef>
              </a:pPr>
              <a:endParaRPr lang="en-US" sz="2946" u="none" strike="noStrike" dirty="0">
                <a:solidFill>
                  <a:srgbClr val="0F4662"/>
                </a:solidFill>
                <a:latin typeface="Quicksand 2"/>
                <a:ea typeface="Quicksand 2"/>
                <a:cs typeface="Quicksand 2"/>
                <a:sym typeface="Quicksand 2"/>
              </a:endParaRPr>
            </a:p>
            <a:p>
              <a:pPr marL="636255" lvl="1" indent="-318128" algn="l">
                <a:lnSpc>
                  <a:spcPts val="324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46" u="none" strike="noStrike" dirty="0">
                  <a:solidFill>
                    <a:srgbClr val="0F4662"/>
                  </a:solidFill>
                  <a:latin typeface="Quicksand 2"/>
                  <a:ea typeface="Quicksand 2"/>
                  <a:cs typeface="Quicksand 2"/>
                  <a:sym typeface="Quicksand 2"/>
                </a:rPr>
                <a:t>Mid-pipeline rendering</a:t>
              </a:r>
            </a:p>
            <a:p>
              <a:pPr marL="636255" lvl="1" indent="-318128" algn="l">
                <a:lnSpc>
                  <a:spcPts val="324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46" u="none" strike="noStrike">
                  <a:solidFill>
                    <a:srgbClr val="0F4662"/>
                  </a:solidFill>
                  <a:latin typeface="Quicksand 2"/>
                  <a:ea typeface="Quicksand 2"/>
                  <a:cs typeface="Quicksand 2"/>
                  <a:sym typeface="Quicksand 2"/>
                </a:rPr>
                <a:t>Image already gamma encoded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14300"/>
              <a:ext cx="10161400" cy="7518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69"/>
                </a:lnSpc>
                <a:spcBef>
                  <a:spcPct val="0"/>
                </a:spcBef>
              </a:pPr>
              <a:r>
                <a:rPr lang="en-US" sz="4299" b="1" u="none" strike="noStrike">
                  <a:solidFill>
                    <a:srgbClr val="0F4662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When not to use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044959" y="2328139"/>
            <a:ext cx="7460531" cy="3003840"/>
            <a:chOff x="0" y="0"/>
            <a:chExt cx="9947375" cy="4005120"/>
          </a:xfrm>
        </p:grpSpPr>
        <p:sp>
          <p:nvSpPr>
            <p:cNvPr id="6" name="TextBox 6"/>
            <p:cNvSpPr txBox="1"/>
            <p:nvPr/>
          </p:nvSpPr>
          <p:spPr>
            <a:xfrm>
              <a:off x="0" y="1253293"/>
              <a:ext cx="9947375" cy="27518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1"/>
                </a:lnSpc>
                <a:spcBef>
                  <a:spcPct val="0"/>
                </a:spcBef>
              </a:pPr>
              <a:r>
                <a:rPr lang="en-US" sz="2946" u="none" strike="noStrike" dirty="0">
                  <a:solidFill>
                    <a:srgbClr val="0F4662"/>
                  </a:solidFill>
                  <a:latin typeface="Quicksand 2"/>
                  <a:ea typeface="Quicksand 2"/>
                  <a:cs typeface="Quicksand 2"/>
                  <a:sym typeface="Quicksand 2"/>
                </a:rPr>
                <a:t>Gamma Correction</a:t>
              </a:r>
            </a:p>
            <a:p>
              <a:pPr marL="0" lvl="0" indent="0" algn="l">
                <a:lnSpc>
                  <a:spcPts val="3241"/>
                </a:lnSpc>
                <a:spcBef>
                  <a:spcPct val="0"/>
                </a:spcBef>
              </a:pPr>
              <a:endParaRPr lang="en-US" sz="2946" u="none" strike="noStrike" dirty="0">
                <a:solidFill>
                  <a:srgbClr val="0F4662"/>
                </a:solidFill>
                <a:latin typeface="Quicksand 2"/>
                <a:ea typeface="Quicksand 2"/>
                <a:cs typeface="Quicksand 2"/>
                <a:sym typeface="Quicksand 2"/>
              </a:endParaRPr>
            </a:p>
            <a:p>
              <a:pPr marL="636255" lvl="1" indent="-318128" algn="l">
                <a:lnSpc>
                  <a:spcPts val="324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46" u="none" strike="noStrike" dirty="0">
                  <a:solidFill>
                    <a:srgbClr val="0F4662"/>
                  </a:solidFill>
                  <a:latin typeface="Quicksand 2"/>
                  <a:ea typeface="Quicksand 2"/>
                  <a:cs typeface="Quicksand 2"/>
                  <a:sym typeface="Quicksand 2"/>
                </a:rPr>
                <a:t>Perceptual </a:t>
              </a:r>
              <a:r>
                <a:rPr lang="en-US" sz="2946" dirty="0" err="1">
                  <a:solidFill>
                    <a:srgbClr val="0F4662"/>
                  </a:solidFill>
                  <a:latin typeface="Quicksand 2"/>
                  <a:ea typeface="Quicksand 2"/>
                  <a:cs typeface="Quicksand 2"/>
                  <a:sym typeface="Quicksand 2"/>
                </a:rPr>
                <a:t>Q</a:t>
              </a:r>
              <a:r>
                <a:rPr lang="en-US" sz="2946" u="none" strike="noStrike" dirty="0" err="1">
                  <a:solidFill>
                    <a:srgbClr val="0F4662"/>
                  </a:solidFill>
                  <a:latin typeface="Quicksand 2"/>
                  <a:ea typeface="Quicksand 2"/>
                  <a:cs typeface="Quicksand 2"/>
                  <a:sym typeface="Quicksand 2"/>
                </a:rPr>
                <a:t>uantiser</a:t>
              </a:r>
              <a:endParaRPr lang="en-US" sz="2946" u="none" strike="noStrike" dirty="0">
                <a:solidFill>
                  <a:srgbClr val="0F4662"/>
                </a:solidFill>
                <a:latin typeface="Quicksand 2"/>
                <a:ea typeface="Quicksand 2"/>
                <a:cs typeface="Quicksand 2"/>
                <a:sym typeface="Quicksand 2"/>
              </a:endParaRPr>
            </a:p>
            <a:p>
              <a:pPr marL="636255" lvl="1" indent="-318128" algn="l">
                <a:lnSpc>
                  <a:spcPts val="324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46" u="none" strike="noStrike" dirty="0">
                  <a:solidFill>
                    <a:srgbClr val="0F4662"/>
                  </a:solidFill>
                  <a:latin typeface="Quicksand 2"/>
                  <a:ea typeface="Quicksand 2"/>
                  <a:cs typeface="Quicksand 2"/>
                  <a:sym typeface="Quicksand 2"/>
                </a:rPr>
                <a:t>Linear Workflow with </a:t>
              </a:r>
              <a:r>
                <a:rPr lang="en-US" sz="2946" u="none" strike="noStrike" dirty="0" err="1">
                  <a:solidFill>
                    <a:srgbClr val="0F4662"/>
                  </a:solidFill>
                  <a:latin typeface="Quicksand 2"/>
                  <a:ea typeface="Quicksand 2"/>
                  <a:cs typeface="Quicksand 2"/>
                  <a:sym typeface="Quicksand 2"/>
                </a:rPr>
                <a:t>colour</a:t>
              </a:r>
              <a:r>
                <a:rPr lang="en-US" sz="2946" u="none" strike="noStrike" dirty="0">
                  <a:solidFill>
                    <a:srgbClr val="0F4662"/>
                  </a:solidFill>
                  <a:latin typeface="Quicksand 2"/>
                  <a:ea typeface="Quicksand 2"/>
                  <a:cs typeface="Quicksand 2"/>
                  <a:sym typeface="Quicksand 2"/>
                </a:rPr>
                <a:t> management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14300"/>
              <a:ext cx="9947375" cy="7518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69"/>
                </a:lnSpc>
                <a:spcBef>
                  <a:spcPct val="0"/>
                </a:spcBef>
              </a:pPr>
              <a:r>
                <a:rPr lang="en-US" sz="4299" b="1" u="none" strike="noStrike">
                  <a:solidFill>
                    <a:srgbClr val="0F4662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Alternatives</a:t>
              </a:r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9144000" y="1768731"/>
            <a:ext cx="0" cy="7144479"/>
          </a:xfrm>
          <a:prstGeom prst="line">
            <a:avLst/>
          </a:prstGeom>
          <a:ln w="19050" cap="flat">
            <a:solidFill>
              <a:srgbClr val="A9BEC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Box 9"/>
          <p:cNvSpPr txBox="1"/>
          <p:nvPr/>
        </p:nvSpPr>
        <p:spPr>
          <a:xfrm>
            <a:off x="1028700" y="5897076"/>
            <a:ext cx="7621050" cy="2056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1"/>
              </a:lnSpc>
              <a:spcBef>
                <a:spcPct val="0"/>
              </a:spcBef>
            </a:pPr>
            <a:r>
              <a:rPr lang="en-US" sz="2946" u="none" strike="noStrike">
                <a:solidFill>
                  <a:srgbClr val="0F4662"/>
                </a:solidFill>
                <a:latin typeface="Quicksand 2"/>
                <a:ea typeface="Quicksand 2"/>
                <a:cs typeface="Quicksand 2"/>
                <a:sym typeface="Quicksand 2"/>
              </a:rPr>
              <a:t>Tone Mapping</a:t>
            </a:r>
          </a:p>
          <a:p>
            <a:pPr marL="0" lvl="0" indent="0" algn="l">
              <a:lnSpc>
                <a:spcPts val="3241"/>
              </a:lnSpc>
              <a:spcBef>
                <a:spcPct val="0"/>
              </a:spcBef>
            </a:pPr>
            <a:endParaRPr lang="en-US" sz="2946" u="none" strike="noStrike">
              <a:solidFill>
                <a:srgbClr val="0F4662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marL="636255" lvl="1" indent="-318128" algn="l">
              <a:lnSpc>
                <a:spcPts val="3241"/>
              </a:lnSpc>
              <a:spcBef>
                <a:spcPct val="0"/>
              </a:spcBef>
              <a:buFont typeface="Arial"/>
              <a:buChar char="•"/>
            </a:pPr>
            <a:r>
              <a:rPr lang="en-US" sz="2946" u="none" strike="noStrike">
                <a:solidFill>
                  <a:srgbClr val="0F4662"/>
                </a:solidFill>
                <a:latin typeface="Quicksand 2"/>
                <a:ea typeface="Quicksand 2"/>
                <a:cs typeface="Quicksand 2"/>
                <a:sym typeface="Quicksand 2"/>
              </a:rPr>
              <a:t>Content is already SDR</a:t>
            </a:r>
          </a:p>
          <a:p>
            <a:pPr marL="636255" lvl="1" indent="-318128" algn="l">
              <a:lnSpc>
                <a:spcPts val="3241"/>
              </a:lnSpc>
              <a:spcBef>
                <a:spcPct val="0"/>
              </a:spcBef>
              <a:buFont typeface="Arial"/>
              <a:buChar char="•"/>
            </a:pPr>
            <a:r>
              <a:rPr lang="en-US" sz="2946" u="none" strike="noStrike">
                <a:solidFill>
                  <a:srgbClr val="0F4662"/>
                </a:solidFill>
                <a:latin typeface="Quicksand 2"/>
                <a:ea typeface="Quicksand 2"/>
                <a:cs typeface="Quicksand 2"/>
                <a:sym typeface="Quicksand 2"/>
              </a:rPr>
              <a:t>If the display natively supports the full HDR range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08715" y="5879634"/>
            <a:ext cx="7460531" cy="2056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1"/>
              </a:lnSpc>
              <a:spcBef>
                <a:spcPct val="0"/>
              </a:spcBef>
            </a:pPr>
            <a:r>
              <a:rPr lang="en-US" sz="2946" u="none" strike="noStrike">
                <a:solidFill>
                  <a:srgbClr val="0F4662"/>
                </a:solidFill>
                <a:latin typeface="Quicksand 2"/>
                <a:ea typeface="Quicksand 2"/>
                <a:cs typeface="Quicksand 2"/>
                <a:sym typeface="Quicksand 2"/>
              </a:rPr>
              <a:t>Tone Mapping</a:t>
            </a:r>
          </a:p>
          <a:p>
            <a:pPr marL="0" lvl="0" indent="0" algn="l">
              <a:lnSpc>
                <a:spcPts val="3241"/>
              </a:lnSpc>
              <a:spcBef>
                <a:spcPct val="0"/>
              </a:spcBef>
            </a:pPr>
            <a:endParaRPr lang="en-US" sz="2946" u="none" strike="noStrike">
              <a:solidFill>
                <a:srgbClr val="0F4662"/>
              </a:solidFill>
              <a:latin typeface="Quicksand 2"/>
              <a:ea typeface="Quicksand 2"/>
              <a:cs typeface="Quicksand 2"/>
              <a:sym typeface="Quicksand 2"/>
            </a:endParaRPr>
          </a:p>
          <a:p>
            <a:pPr marL="636255" lvl="1" indent="-318128" algn="l">
              <a:lnSpc>
                <a:spcPts val="3241"/>
              </a:lnSpc>
              <a:spcBef>
                <a:spcPct val="0"/>
              </a:spcBef>
              <a:buFont typeface="Arial"/>
              <a:buChar char="•"/>
            </a:pPr>
            <a:r>
              <a:rPr lang="en-US" sz="2946" u="none" strike="noStrike">
                <a:solidFill>
                  <a:srgbClr val="0F4662"/>
                </a:solidFill>
                <a:latin typeface="Quicksand 2"/>
                <a:ea typeface="Quicksand 2"/>
                <a:cs typeface="Quicksand 2"/>
                <a:sym typeface="Quicksand 2"/>
              </a:rPr>
              <a:t>Exposure fusion</a:t>
            </a:r>
          </a:p>
          <a:p>
            <a:pPr marL="636255" lvl="1" indent="-318128" algn="l">
              <a:lnSpc>
                <a:spcPts val="3241"/>
              </a:lnSpc>
              <a:spcBef>
                <a:spcPct val="0"/>
              </a:spcBef>
              <a:buFont typeface="Arial"/>
              <a:buChar char="•"/>
            </a:pPr>
            <a:r>
              <a:rPr lang="en-US" sz="2946" u="none" strike="noStrike">
                <a:solidFill>
                  <a:srgbClr val="0F4662"/>
                </a:solidFill>
                <a:latin typeface="Quicksand 2"/>
                <a:ea typeface="Quicksand 2"/>
                <a:cs typeface="Quicksand 2"/>
                <a:sym typeface="Quicksand 2"/>
              </a:rPr>
              <a:t>Local adaptation with spatial awareness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639</Words>
  <Application>Microsoft Office PowerPoint</Application>
  <PresentationFormat>Custom</PresentationFormat>
  <Paragraphs>135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Cormorant Garamond Bold Italics</vt:lpstr>
      <vt:lpstr>Quicksand 2</vt:lpstr>
      <vt:lpstr>Quicksand 2 Bold</vt:lpstr>
      <vt:lpstr>Cormorant Garamond Italics</vt:lpstr>
      <vt:lpstr>Calibri</vt:lpstr>
      <vt:lpstr>Quicksand 1</vt:lpstr>
      <vt:lpstr>Quicksand 1 Bold</vt:lpstr>
      <vt:lpstr>Cormorant Garamond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Gamma correction &amp; tone mapping</dc:title>
  <cp:lastModifiedBy>Reuben Mifsud</cp:lastModifiedBy>
  <cp:revision>3</cp:revision>
  <dcterms:created xsi:type="dcterms:W3CDTF">2006-08-16T00:00:00Z</dcterms:created>
  <dcterms:modified xsi:type="dcterms:W3CDTF">2026-05-18T13:43:09Z</dcterms:modified>
  <dc:identifier>DAHJYkf4tkM</dc:identifier>
</cp:coreProperties>
</file>